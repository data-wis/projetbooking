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72" r:id="rId14"/>
    <p:sldId id="268" r:id="rId15"/>
    <p:sldId id="273" r:id="rId16"/>
    <p:sldId id="269" r:id="rId17"/>
    <p:sldId id="270" r:id="rId18"/>
    <p:sldId id="276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tilisateu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>
    <p:restoredLeft sz="15622" autoAdjust="0"/>
    <p:restoredTop sz="93015" autoAdjust="0"/>
  </p:normalViewPr>
  <p:slideViewPr>
    <p:cSldViewPr snapToGrid="0" snapToObjects="1">
      <p:cViewPr>
        <p:scale>
          <a:sx n="80" d="100"/>
          <a:sy n="80" d="100"/>
        </p:scale>
        <p:origin x="-1474" y="-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31T13:28:30.540" idx="2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dirty="0" smtClean="0"/>
              <a:t>Ce</a:t>
            </a:r>
            <a:r>
              <a:rPr lang="fr-FR" baseline="0" dirty="0" smtClean="0"/>
              <a:t> graph montre le total des trajet ou il ya un manque de chauffeur et surtout dans la </a:t>
            </a:r>
            <a:r>
              <a:rPr lang="fr-FR" baseline="0" dirty="0" err="1" smtClean="0"/>
              <a:t>periode</a:t>
            </a:r>
            <a:r>
              <a:rPr lang="fr-FR" baseline="0" dirty="0" smtClean="0"/>
              <a:t> du Juillet a Septembre, et on a </a:t>
            </a:r>
            <a:r>
              <a:rPr lang="fr-FR" baseline="0" dirty="0" err="1" smtClean="0"/>
              <a:t>remrque</a:t>
            </a:r>
            <a:r>
              <a:rPr lang="fr-FR" baseline="0" dirty="0" smtClean="0"/>
              <a:t> que </a:t>
            </a:r>
            <a:r>
              <a:rPr lang="fr-FR" baseline="0" dirty="0" err="1" smtClean="0"/>
              <a:t>pandant</a:t>
            </a:r>
            <a:r>
              <a:rPr lang="fr-FR" baseline="0" dirty="0" smtClean="0"/>
              <a:t> cette </a:t>
            </a:r>
            <a:r>
              <a:rPr lang="fr-FR" baseline="0" dirty="0" err="1" smtClean="0"/>
              <a:t>peroide</a:t>
            </a:r>
            <a:r>
              <a:rPr lang="fr-FR" baseline="0" dirty="0" smtClean="0"/>
              <a:t>, </a:t>
            </a:r>
            <a:r>
              <a:rPr lang="fr-FR" baseline="0" dirty="0" err="1" smtClean="0"/>
              <a:t>indie</a:t>
            </a:r>
            <a:r>
              <a:rPr lang="fr-FR" baseline="0" dirty="0" smtClean="0"/>
              <a:t> a eu une grosse mousson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</p:sp>
      <p:sp>
        <p:nvSpPr>
          <p:cNvPr id="4" name="Shape 2"/>
          <p:cNvSpPr/>
          <p:nvPr/>
        </p:nvSpPr>
        <p:spPr>
          <a:xfrm>
            <a:off x="11475720" y="5074920"/>
            <a:ext cx="1188720" cy="11887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· RIDE BOOKING 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l'activité et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optimiser la performance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1463040" cy="0"/>
          </a:xfrm>
          <a:prstGeom prst="line">
            <a:avLst/>
          </a:prstGeom>
          <a:noFill/>
          <a:ln w="381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groupe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 · Rita · Sebastien · Wissam · Adam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l'activité pour éclairer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décisions futures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1"/>
            <a:ext cx="480060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de la </a:t>
            </a:r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 </a:t>
            </a:r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» </a:t>
            </a:r>
            <a:r>
              <a:rPr lang="en-US" sz="16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</a:t>
            </a:r>
            <a:r>
              <a:rPr lang="en-US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d’</a:t>
            </a:r>
            <a:r>
              <a:rPr lang="fr-FR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problématiques clés et les tendances.</a:t>
            </a:r>
          </a:p>
          <a:p>
            <a:endParaRPr lang="fr-FR" sz="1600" b="1" dirty="0" smtClean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600" b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tirer des insights et recommandations concrètes à partir des résultats</a:t>
            </a:r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4 TEMPS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423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du jeu de données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319272"/>
            <a:ext cx="502920" cy="5029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33192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4215384"/>
            <a:ext cx="502920" cy="5029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42153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détaillée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5111496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776" y="5058744"/>
            <a:ext cx="529296" cy="6122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51114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recommandations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LE JEU DE DONNÉES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an de réservations de courses en Inde</a:t>
            </a:r>
            <a:endParaRPr lang="en-US" sz="2800" dirty="0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65960"/>
            <a:ext cx="52120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géographique des zones de prise en charge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35040" y="20116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CONTIENT LE DATASET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035040" y="2395728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2395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23957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Booking ID, Customer 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962656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01000" y="29626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lieu de départ/arrivée, distance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529584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35295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3529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Complété, annulé (client/chauffeur), incomplet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4096512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40965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&amp; paiement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01000" y="40965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chauffeur/client, méthode de paiement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4983480"/>
            <a:ext cx="5577840" cy="12344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5029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24,64 km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052560" y="5074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moyenne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parcourue par trajet</a:t>
            </a:r>
            <a:endParaRPr lang="en-US" sz="1600" b="1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DÉMARCHE D'ANALYSE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brute à la décision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1865376" cy="1554480"/>
          </a:xfrm>
          <a:prstGeom prst="roundRect">
            <a:avLst>
              <a:gd name="adj" fmla="val 4706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5468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42616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62656" y="3017520"/>
            <a:ext cx="1865376" cy="1554480"/>
          </a:xfrm>
          <a:prstGeom prst="roundRect">
            <a:avLst>
              <a:gd name="adj" fmla="val 4706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315468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99816" y="370332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28032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48072" y="3017520"/>
            <a:ext cx="1865376" cy="1554480"/>
          </a:xfrm>
          <a:prstGeom prst="roundRect">
            <a:avLst>
              <a:gd name="adj" fmla="val 4706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315468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85232" y="370332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13448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33488" y="3017520"/>
            <a:ext cx="1865376" cy="1554480"/>
          </a:xfrm>
          <a:prstGeom prst="roundRect">
            <a:avLst>
              <a:gd name="adj" fmla="val 4706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315468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70648" y="370332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détaillée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98864" y="35204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18904" y="3017520"/>
            <a:ext cx="1865376" cy="1554480"/>
          </a:xfrm>
          <a:prstGeom prst="roundRect">
            <a:avLst>
              <a:gd name="adj" fmla="val 4706"/>
            </a:avLst>
          </a:prstGeom>
          <a:solidFill>
            <a:schemeClr val="accent5">
              <a:lumMod val="75000"/>
            </a:schemeClr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3154680"/>
            <a:ext cx="1591056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56064" y="370332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prépare la suivante : un nettoyage rigoureux garantit la fiabilité des analyses et des graphiques présentés ensuite.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a-t-il un problème de satisfaction client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9AA5C4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/ 5</a:t>
            </a:r>
            <a:endParaRPr lang="en-US" sz="3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 donnée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clients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9AA5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23317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/ 5</a:t>
            </a:r>
            <a:endParaRPr lang="en-US" sz="3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3154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 donnée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chauffeurs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9AA5C4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3317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84–88 %</a:t>
            </a:r>
            <a:endParaRPr lang="en-US" sz="3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0" y="3154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Satisfaction, tous types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véhicules confondus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0835640" cy="1508760"/>
          </a:xfrm>
          <a:prstGeom prst="roundRect">
            <a:avLst>
              <a:gd name="adj" fmla="val 3636"/>
            </a:avLst>
          </a:prstGeom>
          <a:solidFill>
            <a:srgbClr val="E7F3E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signal fort ne ressort des notes ou de la satisfaction par </a:t>
            </a: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ce n'est pas la qualité de service perçue qui pose problème sur cette plateforme.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38 % des trajets ne </a:t>
            </a:r>
            <a:r>
              <a:rPr lang="en-US" sz="26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sont-ils</a:t>
            </a:r>
            <a:r>
              <a:rPr lang="en-US" sz="26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pas </a:t>
            </a: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complétés 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178040" y="1577340"/>
            <a:ext cx="4434840" cy="1417320"/>
          </a:xfrm>
          <a:prstGeom prst="rect">
            <a:avLst/>
          </a:prstGeom>
          <a:solidFill>
            <a:srgbClr val="C1445E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86046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0" y="195190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courses n'aboutissent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en 2024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457200" y="5477609"/>
            <a:ext cx="11274552" cy="101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enjeu de </a:t>
            </a:r>
            <a:r>
              <a:rPr lang="en-US" sz="14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majeur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aboutis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représentent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potentielles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d'affaires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course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manquée</a:t>
            </a: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98209"/>
            <a:ext cx="6480000" cy="39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hape 2"/>
          <p:cNvSpPr/>
          <p:nvPr/>
        </p:nvSpPr>
        <p:spPr>
          <a:xfrm>
            <a:off x="7191408" y="3244361"/>
            <a:ext cx="4434840" cy="2233248"/>
          </a:xfrm>
          <a:prstGeom prst="roundRect">
            <a:avLst>
              <a:gd name="adj" fmla="val 7059"/>
            </a:avLst>
          </a:prstGeom>
          <a:solidFill>
            <a:srgbClr val="EDF1F8"/>
          </a:solidFill>
          <a:ln/>
        </p:spPr>
      </p:sp>
      <p:sp>
        <p:nvSpPr>
          <p:cNvPr id="19" name="Text 5"/>
          <p:cNvSpPr/>
          <p:nvPr/>
        </p:nvSpPr>
        <p:spPr>
          <a:xfrm>
            <a:off x="7191408" y="3244362"/>
            <a:ext cx="4434840" cy="1513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7195760" y="3323173"/>
            <a:ext cx="4552208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sont annulées par le chauffeur,</a:t>
            </a:r>
          </a:p>
          <a:p>
            <a:r>
              <a:rPr lang="fr-FR" sz="1600" b="1" dirty="0" smtClean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7 %</a:t>
            </a:r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le client,</a:t>
            </a:r>
          </a:p>
          <a:p>
            <a:r>
              <a:rPr lang="fr-FR" sz="1600" b="1" dirty="0" smtClean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7 %</a:t>
            </a:r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trouvent aucun chauffeur,</a:t>
            </a:r>
          </a:p>
          <a:p>
            <a:r>
              <a:rPr lang="fr-FR" sz="1600" b="1" dirty="0" smtClean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6 %</a:t>
            </a:r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incomplet, </a:t>
            </a:r>
          </a:p>
          <a:p>
            <a:endParaRPr lang="fr-FR" sz="1400" dirty="0" smtClean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problème opérationnel le plus important identifié </a:t>
            </a:r>
          </a:p>
          <a:p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jeu de données, avant même le taux de complétion </a:t>
            </a:r>
          </a:p>
          <a:p>
            <a:r>
              <a:rPr lang="fr-FR" sz="1400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</a:t>
            </a:r>
            <a:endParaRPr lang="en-US" sz="1400" dirty="0" smtClean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1844"/>
            <a:ext cx="11064240" cy="536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les trajets sont-ils annulés 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124793" y="11588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d'annulation — 25 % des courses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365760" y="5820504"/>
            <a:ext cx="11247120" cy="671736"/>
          </a:xfrm>
          <a:prstGeom prst="roundRect">
            <a:avLst>
              <a:gd name="adj" fmla="val 4800"/>
            </a:avLst>
          </a:prstGeom>
          <a:solidFill>
            <a:srgbClr val="EDF1F8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" y="1397984"/>
            <a:ext cx="11111718" cy="425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548640" y="5820503"/>
            <a:ext cx="109288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i="1" dirty="0" smtClean="0"/>
              <a:t>Avec </a:t>
            </a:r>
            <a:r>
              <a:rPr lang="fr-FR" sz="1300" b="1" i="1" dirty="0" smtClean="0">
                <a:solidFill>
                  <a:schemeClr val="accent5">
                    <a:lumMod val="75000"/>
                  </a:schemeClr>
                </a:solidFill>
              </a:rPr>
              <a:t>27 000</a:t>
            </a:r>
            <a:r>
              <a:rPr lang="fr-FR" sz="1300" i="1" dirty="0" smtClean="0"/>
              <a:t> annulations (</a:t>
            </a:r>
            <a:r>
              <a:rPr lang="fr-FR" sz="1300" b="1" i="1" dirty="0" smtClean="0">
                <a:solidFill>
                  <a:schemeClr val="accent5">
                    <a:lumMod val="75000"/>
                  </a:schemeClr>
                </a:solidFill>
              </a:rPr>
              <a:t>18 % du total</a:t>
            </a:r>
            <a:r>
              <a:rPr lang="fr-FR" sz="1300" i="1" dirty="0" smtClean="0"/>
              <a:t>), les chauffeurs constituent la principale cause de non-complétion des réservations. </a:t>
            </a:r>
          </a:p>
          <a:p>
            <a:r>
              <a:rPr lang="fr-FR" sz="1300" i="1" dirty="0" smtClean="0"/>
              <a:t>La répartition équilibrée des différents motifs met en évidence un problème structurel plutôt qu'une cause isolée.</a:t>
            </a:r>
            <a:endParaRPr lang="fr-FR" sz="13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7512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1 - 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L’influence de la période (mois et heure) </a:t>
            </a:r>
          </a:p>
          <a:p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les annulations:</a:t>
            </a:r>
            <a:endParaRPr lang="fr-FR" sz="2400" b="1" dirty="0">
              <a:solidFill>
                <a:srgbClr val="1B1F3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pic>
        <p:nvPicPr>
          <p:cNvPr id="4" name="Image 0" descr="/home/claude/assets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118" y="1688123"/>
            <a:ext cx="8141406" cy="41851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49400" y="685800"/>
            <a:ext cx="3383280" cy="5806440"/>
          </a:xfrm>
          <a:prstGeom prst="roundRect">
            <a:avLst>
              <a:gd name="adj" fmla="val 1622"/>
            </a:avLst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872372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b="1" kern="0" spc="150" dirty="0" smtClean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ANNULATION EN JUILLET, MAI?</a:t>
            </a:r>
          </a:p>
        </p:txBody>
      </p:sp>
      <p:sp>
        <p:nvSpPr>
          <p:cNvPr id="8" name="Text 5"/>
          <p:cNvSpPr/>
          <p:nvPr/>
        </p:nvSpPr>
        <p:spPr>
          <a:xfrm>
            <a:off x="8572500" y="1547445"/>
            <a:ext cx="2985860" cy="21543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fr-FR" sz="15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le mois le plus critique, marqué par 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 inondations.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 glissements de terrain.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 mouvements sociaux ayant fortement perturbé la circulation. </a:t>
            </a:r>
          </a:p>
          <a:p>
            <a:pPr>
              <a:lnSpc>
                <a:spcPct val="150000"/>
              </a:lnSpc>
            </a:pPr>
            <a:endParaRPr lang="fr-FR" sz="1500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endParaRPr lang="fr-FR" sz="1500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72500" y="3833446"/>
            <a:ext cx="2985860" cy="24794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fr-FR" sz="15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fermetures de routes.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embouteillages.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15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manifestations d'agriculteurs ont également entraîné d'importantes perturbations du trafic.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pic d'annulation à 18h ?</a:t>
            </a:r>
            <a:endParaRPr lang="en-US" sz="2700" dirty="0"/>
          </a:p>
        </p:txBody>
      </p:sp>
      <p:pic>
        <p:nvPicPr>
          <p:cNvPr id="4" name="Image 0" descr="/home/claude/assets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3823" y="1371600"/>
            <a:ext cx="8044962" cy="40180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1301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DF1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1301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</a:t>
            </a:r>
            <a:r>
              <a:rPr lang="fr-FR" sz="1300" b="1" i="1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</a:t>
            </a:r>
            <a:r>
              <a:rPr lang="fr-FR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embouteillages, la faible rentabilité des courses, les préférences des chauffeurs et les contraintes de ravitaillement entraînent une hausse des annulations (</a:t>
            </a:r>
            <a:r>
              <a:rPr lang="fr-FR" sz="1300" b="1" i="1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18 %</a:t>
            </a:r>
            <a:r>
              <a:rPr lang="fr-FR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1 — Le moment compte 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et heure influencent les annulations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tendances — juillet et 18h — réapparaissent aussi pour les cas « aucun chauffeur trouvé », confirmant un effet temporel fort.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18H, QUATRE FACTEURS SE CUMULENT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651760" cy="3017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Embouteillages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trajet de 15 min peut durer plus d'1h ; le tarif de base reste bas, la marge du chauffeur s'effondre.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3017520"/>
            <a:ext cx="2651760" cy="3017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324612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des trajets retour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43434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chauffeurs évitent les zones éloignées de leur domicile, sans course rentable pour revenir.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2651760" cy="3017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24612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Chasse au surge pricing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annulent ou s'arrêtent volontairement avant l'activation de la tarification dynamique maximale.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3017520"/>
            <a:ext cx="2651760" cy="3017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324612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7260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Pénurie de GPL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43434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nombreux véhicules au GPL font la queue aux stations en fin de journée, faute de stock.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PROBLÉMATIQUE &amp;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a-t-il un mode de paiement préférentiel 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256" y="1841688"/>
            <a:ext cx="5806507" cy="3718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18387" y="1832896"/>
            <a:ext cx="5451231" cy="370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hape 3" descr="L’analyse montre que l’UPI est le mode de paiement le plus utilisé par les clients.&#10;">
            <a:extLst>
              <a:ext uri="{FF2B5EF4-FFF2-40B4-BE49-F238E27FC236}">
                <a16:creationId xmlns:a16="http://schemas.microsoft.com/office/drawing/2014/main" xmlns="" id="{FCA4C9D8-C768-E7BB-DC94-A91D43937E03}"/>
              </a:ext>
            </a:extLst>
          </p:cNvPr>
          <p:cNvSpPr/>
          <p:nvPr/>
        </p:nvSpPr>
        <p:spPr>
          <a:xfrm>
            <a:off x="147319" y="5706208"/>
            <a:ext cx="11530874" cy="659424"/>
          </a:xfrm>
          <a:prstGeom prst="roundRect">
            <a:avLst>
              <a:gd name="adj" fmla="val 4800"/>
            </a:avLst>
          </a:prstGeom>
          <a:solidFill>
            <a:srgbClr val="EDF1F8"/>
          </a:solidFill>
          <a:ln>
            <a:solidFill>
              <a:srgbClr val="4472C4"/>
            </a:solidFill>
          </a:ln>
        </p:spPr>
      </p:sp>
      <p:sp>
        <p:nvSpPr>
          <p:cNvPr id="11" name="ZoneTexte 10"/>
          <p:cNvSpPr txBox="1"/>
          <p:nvPr/>
        </p:nvSpPr>
        <p:spPr>
          <a:xfrm>
            <a:off x="1422204" y="5860096"/>
            <a:ext cx="875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L’UPI</a:t>
            </a:r>
            <a:r>
              <a:rPr lang="fr-FR" sz="14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le moyen de paiement le plus utilisé, mais les tarifs et les pratiques de paiement varient selon les chauffeurs</a:t>
            </a:r>
            <a:r>
              <a:rPr lang="fr-FR" sz="1400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</a:t>
            </a:r>
            <a:r>
              <a:rPr lang="en-US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</a:t>
            </a:r>
            <a:r>
              <a:rPr lang="en-US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La zone </a:t>
            </a:r>
            <a:r>
              <a:rPr lang="en-US" sz="25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géographique</a:t>
            </a:r>
            <a:r>
              <a:rPr lang="en-US" sz="2500" dirty="0" smtClean="0"/>
              <a:t> </a:t>
            </a:r>
            <a:r>
              <a:rPr lang="en-US" sz="25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</a:t>
            </a:r>
            <a:r>
              <a:rPr lang="en-US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</a:t>
            </a:r>
            <a:r>
              <a:rPr lang="en-US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fr-FR" sz="25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trajets incomplets </a:t>
            </a:r>
            <a:endParaRPr lang="en-US" sz="2500" b="1" dirty="0">
              <a:solidFill>
                <a:srgbClr val="1B1F3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6247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et taux de trajets incomplets par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lieu de pickup (top 20)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8215" y="1371600"/>
            <a:ext cx="10410093" cy="487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  </a:t>
            </a: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La zone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géographique</a:t>
            </a:r>
            <a:r>
              <a:rPr lang="en-US" sz="2400" dirty="0" smtClean="0"/>
              <a:t>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</a:t>
            </a: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trajets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incomplets</a:t>
            </a:r>
            <a:endParaRPr lang="en-US" sz="2400" dirty="0"/>
          </a:p>
        </p:txBody>
      </p:sp>
      <p:sp>
        <p:nvSpPr>
          <p:cNvPr id="4" name="Shape 4"/>
          <p:cNvSpPr/>
          <p:nvPr/>
        </p:nvSpPr>
        <p:spPr>
          <a:xfrm>
            <a:off x="457200" y="1691639"/>
            <a:ext cx="5174974" cy="281881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6" name="Text 6"/>
          <p:cNvSpPr/>
          <p:nvPr/>
        </p:nvSpPr>
        <p:spPr>
          <a:xfrm>
            <a:off x="777240" y="19801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7"/>
          <p:cNvSpPr/>
          <p:nvPr/>
        </p:nvSpPr>
        <p:spPr>
          <a:xfrm>
            <a:off x="132588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b="1" dirty="0" smtClean="0">
                <a:solidFill>
                  <a:schemeClr val="accent5">
                    <a:lumMod val="50000"/>
                  </a:schemeClr>
                </a:solidFill>
              </a:rPr>
              <a:t>Hero </a:t>
            </a:r>
            <a:r>
              <a:rPr lang="fr-FR" b="1" dirty="0">
                <a:solidFill>
                  <a:schemeClr val="accent5">
                    <a:lumMod val="50000"/>
                  </a:schemeClr>
                </a:solidFill>
              </a:rPr>
              <a:t>Honda Chowk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8"/>
          <p:cNvSpPr/>
          <p:nvPr/>
        </p:nvSpPr>
        <p:spPr>
          <a:xfrm>
            <a:off x="731519" y="2570259"/>
            <a:ext cx="4542845" cy="387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b="1" dirty="0" smtClean="0"/>
              <a:t>La </a:t>
            </a:r>
            <a:r>
              <a:rPr lang="fr-FR" sz="1200" b="1" dirty="0"/>
              <a:t>plus grand volume de trajets incomplets </a:t>
            </a:r>
            <a:endParaRPr lang="en-US" sz="1200" dirty="0"/>
          </a:p>
        </p:txBody>
      </p:sp>
      <p:sp>
        <p:nvSpPr>
          <p:cNvPr id="9" name="Shape 19"/>
          <p:cNvSpPr/>
          <p:nvPr/>
        </p:nvSpPr>
        <p:spPr>
          <a:xfrm>
            <a:off x="6176506" y="1613782"/>
            <a:ext cx="5697441" cy="289667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0" name="Shape 20"/>
          <p:cNvSpPr/>
          <p:nvPr/>
        </p:nvSpPr>
        <p:spPr>
          <a:xfrm>
            <a:off x="6402954" y="192024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1" name="Text 21"/>
          <p:cNvSpPr/>
          <p:nvPr/>
        </p:nvSpPr>
        <p:spPr>
          <a:xfrm>
            <a:off x="6404929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22"/>
          <p:cNvSpPr/>
          <p:nvPr/>
        </p:nvSpPr>
        <p:spPr>
          <a:xfrm>
            <a:off x="6500853" y="2480807"/>
            <a:ext cx="2564015" cy="342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b="1" dirty="0"/>
              <a:t>L</a:t>
            </a:r>
            <a:r>
              <a:rPr lang="fr-FR" sz="1200" b="1" dirty="0" smtClean="0"/>
              <a:t>a </a:t>
            </a:r>
            <a:r>
              <a:rPr lang="fr-FR" sz="1200" b="1" dirty="0"/>
              <a:t>zone ayant le taux le plus élevé .</a:t>
            </a:r>
            <a:endParaRPr lang="en-US" sz="1200" b="1" dirty="0"/>
          </a:p>
        </p:txBody>
      </p:sp>
      <p:sp>
        <p:nvSpPr>
          <p:cNvPr id="13" name="Text 23"/>
          <p:cNvSpPr/>
          <p:nvPr/>
        </p:nvSpPr>
        <p:spPr>
          <a:xfrm>
            <a:off x="6402954" y="2823375"/>
            <a:ext cx="4871598" cy="14984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FontTx/>
              <a:buChar char="-"/>
            </a:pP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sécurité et manifestations : accès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temporairement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circulation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perturbée</a:t>
            </a: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Déviations</a:t>
            </a: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barrages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routiers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modifications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fréquentes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circulation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gouvernemental</a:t>
            </a: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alt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</a:t>
            </a:r>
            <a:r>
              <a:rPr lang="en-US" alt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Central Vista :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ralentissements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notamment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pointe.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5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932465" y="1967870"/>
            <a:ext cx="2286000" cy="362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b="1" dirty="0">
                <a:solidFill>
                  <a:schemeClr val="accent5">
                    <a:lumMod val="50000"/>
                  </a:schemeClr>
                </a:solidFill>
              </a:rPr>
              <a:t>Central Secretariat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 23"/>
          <p:cNvSpPr/>
          <p:nvPr/>
        </p:nvSpPr>
        <p:spPr>
          <a:xfrm>
            <a:off x="479066" y="2967824"/>
            <a:ext cx="5153108" cy="1542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2024, cette zone a connu plusieurs perturbations </a:t>
            </a: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majeures.</a:t>
            </a:r>
          </a:p>
          <a:p>
            <a:endParaRPr lang="fr-FR" sz="1200" dirty="0" smtClean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Font typeface="Calibri" pitchFamily="34" charset="0"/>
              <a:buChar char="-"/>
            </a:pP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L’affaissement </a:t>
            </a:r>
            <a:r>
              <a:rPr lang="fr-F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d’un autopont en </a:t>
            </a:r>
            <a:r>
              <a:rPr lang="fr-FR" sz="1200" b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mai.</a:t>
            </a:r>
            <a:endParaRPr lang="fr-FR" sz="1200" dirty="0" smtClean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Font typeface="Calibri" pitchFamily="34" charset="0"/>
              <a:buChar char="-"/>
            </a:pP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Fortes </a:t>
            </a:r>
            <a:r>
              <a:rPr lang="fr-F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inondations en </a:t>
            </a:r>
            <a:r>
              <a:rPr lang="fr-FR" sz="1200" b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septembre.</a:t>
            </a:r>
            <a:endParaRPr lang="fr-FR" sz="1200" dirty="0" smtClean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Font typeface="Calibri" pitchFamily="34" charset="0"/>
              <a:buChar char="-"/>
            </a:pP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Importants </a:t>
            </a:r>
            <a:r>
              <a:rPr lang="fr-F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embouteillages </a:t>
            </a:r>
            <a:endParaRPr lang="fr-FR" sz="1200" dirty="0" smtClean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Font typeface="Calibri" pitchFamily="34" charset="0"/>
              <a:buChar char="-"/>
            </a:pP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</a:t>
            </a:r>
            <a:r>
              <a:rPr lang="fr-F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de circulation</a:t>
            </a:r>
            <a:r>
              <a:rPr lang="fr-FR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548640" y="4862147"/>
            <a:ext cx="10835640" cy="677008"/>
          </a:xfrm>
          <a:prstGeom prst="roundRect">
            <a:avLst>
              <a:gd name="adj" fmla="val 4138"/>
            </a:avLst>
          </a:prstGeom>
          <a:solidFill>
            <a:srgbClr val="EDF1F8"/>
          </a:solidFill>
          <a:ln/>
        </p:spPr>
      </p:sp>
      <p:sp>
        <p:nvSpPr>
          <p:cNvPr id="19" name="Rectangle 18"/>
          <p:cNvSpPr/>
          <p:nvPr/>
        </p:nvSpPr>
        <p:spPr>
          <a:xfrm>
            <a:off x="847576" y="5051436"/>
            <a:ext cx="105430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Ces </a:t>
            </a:r>
            <a:r>
              <a:rPr lang="fr-FR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perturbations pourraient avoir augmenté les temps d’attente et les difficultés d’accès, favorisant ainsi les trajets incomplets.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</a:t>
            </a: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Le type de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véhicule</a:t>
            </a:r>
            <a:r>
              <a:rPr lang="en-US" sz="2400" dirty="0"/>
              <a:t> </a:t>
            </a:r>
            <a:r>
              <a:rPr lang="en-US" sz="2400" b="1" dirty="0" err="1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</a:t>
            </a:r>
            <a:r>
              <a:rPr lang="en-US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la complétion des trajets</a:t>
            </a:r>
            <a:endParaRPr lang="en-US" sz="2400" dirty="0"/>
          </a:p>
        </p:txBody>
      </p:sp>
      <p:sp>
        <p:nvSpPr>
          <p:cNvPr id="41" name="Text 2"/>
          <p:cNvSpPr/>
          <p:nvPr/>
        </p:nvSpPr>
        <p:spPr>
          <a:xfrm>
            <a:off x="365760" y="1485900"/>
            <a:ext cx="489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b="1" kern="0" spc="1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AU PLUS FORT TAUX </a:t>
            </a:r>
            <a:r>
              <a:rPr lang="en-US" sz="1200" b="1" kern="0" spc="1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D'INCOMPLETS par region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Shape 3"/>
          <p:cNvSpPr/>
          <p:nvPr/>
        </p:nvSpPr>
        <p:spPr>
          <a:xfrm>
            <a:off x="365760" y="1905497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9AA5C4">
                <a:alpha val="20000"/>
              </a:srgbClr>
            </a:outerShdw>
          </a:effectLst>
        </p:spPr>
      </p:sp>
      <p:sp>
        <p:nvSpPr>
          <p:cNvPr id="43" name="Text 4"/>
          <p:cNvSpPr/>
          <p:nvPr/>
        </p:nvSpPr>
        <p:spPr>
          <a:xfrm>
            <a:off x="1359421" y="2289148"/>
            <a:ext cx="8997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 err="1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r>
              <a:rPr lang="en-US" sz="1600" b="1" i="1" dirty="0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XL</a:t>
            </a:r>
            <a:endParaRPr lang="en-US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4" name="Text 5"/>
          <p:cNvSpPr/>
          <p:nvPr/>
        </p:nvSpPr>
        <p:spPr>
          <a:xfrm>
            <a:off x="2713168" y="2064435"/>
            <a:ext cx="1842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41,45 %</a:t>
            </a:r>
            <a:endParaRPr lang="en-US" sz="3200" dirty="0"/>
          </a:p>
        </p:txBody>
      </p:sp>
      <p:sp>
        <p:nvSpPr>
          <p:cNvPr id="45" name="Text 6"/>
          <p:cNvSpPr/>
          <p:nvPr/>
        </p:nvSpPr>
        <p:spPr>
          <a:xfrm>
            <a:off x="548640" y="3798901"/>
            <a:ext cx="5082208" cy="554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i="1" dirty="0">
                <a:solidFill>
                  <a:schemeClr val="accent5">
                    <a:lumMod val="75000"/>
                  </a:schemeClr>
                </a:solidFill>
              </a:rPr>
              <a:t>À Delhi, la Cour suprême a maintenu l'interdiction d'utiliser des motos personnelles pour le transport de passagers</a:t>
            </a:r>
            <a:r>
              <a:rPr lang="en-US" sz="1400" i="1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Shape 7"/>
          <p:cNvSpPr/>
          <p:nvPr/>
        </p:nvSpPr>
        <p:spPr>
          <a:xfrm>
            <a:off x="6217920" y="1924381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9AA5C4">
                <a:alpha val="20000"/>
              </a:srgbClr>
            </a:outerShdw>
          </a:effectLst>
        </p:spPr>
      </p:sp>
      <p:sp>
        <p:nvSpPr>
          <p:cNvPr id="47" name="Text 8"/>
          <p:cNvSpPr/>
          <p:nvPr/>
        </p:nvSpPr>
        <p:spPr>
          <a:xfrm>
            <a:off x="1381930" y="3024555"/>
            <a:ext cx="8771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  <a:endParaRPr lang="en-US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Text 9"/>
          <p:cNvSpPr/>
          <p:nvPr/>
        </p:nvSpPr>
        <p:spPr>
          <a:xfrm>
            <a:off x="2713168" y="2887395"/>
            <a:ext cx="17974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19,57 %</a:t>
            </a:r>
            <a:endParaRPr lang="en-US" sz="3200" dirty="0"/>
          </a:p>
        </p:txBody>
      </p:sp>
      <p:sp>
        <p:nvSpPr>
          <p:cNvPr id="49" name="Text 10"/>
          <p:cNvSpPr/>
          <p:nvPr/>
        </p:nvSpPr>
        <p:spPr>
          <a:xfrm>
            <a:off x="548640" y="4288415"/>
            <a:ext cx="5242559" cy="892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b="1" i="1" dirty="0" smtClean="0">
                <a:solidFill>
                  <a:schemeClr val="accent5">
                    <a:lumMod val="75000"/>
                  </a:schemeClr>
                </a:solidFill>
              </a:rPr>
              <a:t>Pression sur l'électrification : </a:t>
            </a:r>
            <a:r>
              <a:rPr lang="fr-FR" sz="1400" i="1" dirty="0" smtClean="0">
                <a:solidFill>
                  <a:schemeClr val="accent5">
                    <a:lumMod val="75000"/>
                  </a:schemeClr>
                </a:solidFill>
              </a:rPr>
              <a:t>Les villes indiennes ont commencé à exiger des plateformes qu'elles basculent 100 % vers l'électrique, créant une pénurie massive de conducteurs éligibles</a:t>
            </a:r>
            <a:endParaRPr lang="fr-FR" sz="1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Shape 11"/>
          <p:cNvSpPr/>
          <p:nvPr/>
        </p:nvSpPr>
        <p:spPr>
          <a:xfrm>
            <a:off x="571500" y="5136211"/>
            <a:ext cx="10835640" cy="1130741"/>
          </a:xfrm>
          <a:prstGeom prst="roundRect">
            <a:avLst>
              <a:gd name="adj" fmla="val 4138"/>
            </a:avLst>
          </a:prstGeom>
          <a:solidFill>
            <a:srgbClr val="EDF1F8"/>
          </a:solidFill>
          <a:ln/>
        </p:spPr>
      </p:sp>
      <p:sp>
        <p:nvSpPr>
          <p:cNvPr id="51" name="Text 12"/>
          <p:cNvSpPr/>
          <p:nvPr/>
        </p:nvSpPr>
        <p:spPr>
          <a:xfrm>
            <a:off x="868680" y="5181037"/>
            <a:ext cx="13904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 </a:t>
            </a:r>
            <a:r>
              <a:rPr lang="en-US" sz="1200" b="1" u="sng" dirty="0" err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2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Text 13"/>
          <p:cNvSpPr/>
          <p:nvPr/>
        </p:nvSpPr>
        <p:spPr>
          <a:xfrm>
            <a:off x="921689" y="5471326"/>
            <a:ext cx="10241280" cy="606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r>
              <a:rPr lang="en-US" sz="1300" b="1" i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</a:t>
            </a:r>
            <a:r>
              <a:rPr lang="en-US" sz="1300" i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00" i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incomplets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les véhicules les plus touchés (</a:t>
            </a:r>
            <a:r>
              <a:rPr lang="en-US" sz="1300" b="1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eBike, Uber XL</a:t>
            </a: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sont aussi les plus sensibles aux contraintes saisonnières et à la disponibilité de </a:t>
            </a:r>
            <a:r>
              <a:rPr lang="en-US" sz="1300" i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</a:t>
            </a:r>
            <a:r>
              <a:rPr lang="en-US" sz="1300" i="1" dirty="0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300" i="1" dirty="0"/>
          </a:p>
        </p:txBody>
      </p:sp>
      <p:sp>
        <p:nvSpPr>
          <p:cNvPr id="53" name="Text 1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54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5" name="Text 2"/>
          <p:cNvSpPr/>
          <p:nvPr/>
        </p:nvSpPr>
        <p:spPr>
          <a:xfrm>
            <a:off x="6217920" y="1506689"/>
            <a:ext cx="53492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b="1" kern="0" spc="1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r>
              <a:rPr lang="en-US" sz="12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AU PLUS FORT TAUX </a:t>
            </a:r>
            <a:r>
              <a:rPr lang="en-US" sz="1200" b="1" kern="0" spc="1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D'INCOMPLETS par </a:t>
            </a:r>
            <a:r>
              <a:rPr lang="en-US" sz="1200" b="1" kern="0" spc="100" dirty="0" err="1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 4"/>
          <p:cNvSpPr/>
          <p:nvPr/>
        </p:nvSpPr>
        <p:spPr>
          <a:xfrm>
            <a:off x="7263205" y="2289148"/>
            <a:ext cx="8857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</a:p>
        </p:txBody>
      </p:sp>
      <p:sp>
        <p:nvSpPr>
          <p:cNvPr id="57" name="Text 5"/>
          <p:cNvSpPr/>
          <p:nvPr/>
        </p:nvSpPr>
        <p:spPr>
          <a:xfrm>
            <a:off x="9010601" y="2064435"/>
            <a:ext cx="144349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C1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7,18%</a:t>
            </a:r>
            <a:endParaRPr lang="en-US" sz="3200" dirty="0"/>
          </a:p>
        </p:txBody>
      </p:sp>
      <p:sp>
        <p:nvSpPr>
          <p:cNvPr id="58" name="Text 8"/>
          <p:cNvSpPr/>
          <p:nvPr/>
        </p:nvSpPr>
        <p:spPr>
          <a:xfrm>
            <a:off x="7299065" y="2887395"/>
            <a:ext cx="6728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</a:p>
        </p:txBody>
      </p:sp>
      <p:sp>
        <p:nvSpPr>
          <p:cNvPr id="59" name="Text 9"/>
          <p:cNvSpPr/>
          <p:nvPr/>
        </p:nvSpPr>
        <p:spPr>
          <a:xfrm>
            <a:off x="8880165" y="2795955"/>
            <a:ext cx="18365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C1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14,53 </a:t>
            </a:r>
            <a:r>
              <a:rPr lang="en-US" sz="3200" b="1" dirty="0">
                <a:solidFill>
                  <a:srgbClr val="C1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200" dirty="0"/>
          </a:p>
        </p:txBody>
      </p:sp>
      <p:sp>
        <p:nvSpPr>
          <p:cNvPr id="23" name="Text 10"/>
          <p:cNvSpPr/>
          <p:nvPr/>
        </p:nvSpPr>
        <p:spPr>
          <a:xfrm>
            <a:off x="6258885" y="3926978"/>
            <a:ext cx="5242559" cy="1254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b="1" i="1" dirty="0" smtClean="0">
                <a:solidFill>
                  <a:schemeClr val="accent5">
                    <a:lumMod val="75000"/>
                  </a:schemeClr>
                </a:solidFill>
              </a:rPr>
              <a:t>Pénurie de véhicules spacieux : </a:t>
            </a:r>
            <a:r>
              <a:rPr lang="fr-FR" sz="1400" i="1" dirty="0" smtClean="0">
                <a:solidFill>
                  <a:schemeClr val="accent5">
                    <a:lumMod val="75000"/>
                  </a:schemeClr>
                </a:solidFill>
              </a:rPr>
              <a:t>les chauffeurs </a:t>
            </a:r>
            <a:r>
              <a:rPr lang="fr-FR" sz="1400" i="1" dirty="0" smtClean="0">
                <a:solidFill>
                  <a:schemeClr val="accent5">
                    <a:lumMod val="75000"/>
                  </a:schemeClr>
                </a:solidFill>
              </a:rPr>
              <a:t>privilégient </a:t>
            </a:r>
            <a:r>
              <a:rPr lang="fr-FR" sz="1400" i="1" dirty="0" smtClean="0">
                <a:solidFill>
                  <a:schemeClr val="accent5">
                    <a:lumMod val="75000"/>
                  </a:schemeClr>
                </a:solidFill>
              </a:rPr>
              <a:t>les contrats privés plus rentables, réduisant la disponibilité des </a:t>
            </a:r>
            <a:r>
              <a:rPr lang="fr-FR" sz="1400" i="1" dirty="0" err="1" smtClean="0">
                <a:solidFill>
                  <a:schemeClr val="accent5">
                    <a:lumMod val="75000"/>
                  </a:schemeClr>
                </a:solidFill>
              </a:rPr>
              <a:t>Uber</a:t>
            </a:r>
            <a:r>
              <a:rPr lang="fr-FR" sz="1400" i="1" dirty="0" smtClean="0">
                <a:solidFill>
                  <a:schemeClr val="accent5">
                    <a:lumMod val="75000"/>
                  </a:schemeClr>
                </a:solidFill>
              </a:rPr>
              <a:t> XL dans les grandes villes.</a:t>
            </a:r>
            <a:endParaRPr lang="en-US" sz="1400" i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1"/>
          <p:cNvSpPr/>
          <p:nvPr/>
        </p:nvSpPr>
        <p:spPr>
          <a:xfrm>
            <a:off x="548640" y="5490063"/>
            <a:ext cx="10835640" cy="861647"/>
          </a:xfrm>
          <a:prstGeom prst="roundRect">
            <a:avLst>
              <a:gd name="adj" fmla="val 4138"/>
            </a:avLst>
          </a:prstGeom>
          <a:solidFill>
            <a:srgbClr val="EDF1F8"/>
          </a:solidFill>
          <a:ln/>
        </p:spPr>
      </p:sp>
      <p:sp>
        <p:nvSpPr>
          <p:cNvPr id="4" name="Rectangle 3"/>
          <p:cNvSpPr/>
          <p:nvPr/>
        </p:nvSpPr>
        <p:spPr>
          <a:xfrm>
            <a:off x="662865" y="5675359"/>
            <a:ext cx="105619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i="1" dirty="0" smtClean="0"/>
              <a:t>La </a:t>
            </a:r>
            <a:r>
              <a:rPr lang="fr-FR" sz="1400" i="1" dirty="0"/>
              <a:t>hausse des indisponibilité </a:t>
            </a:r>
            <a:r>
              <a:rPr lang="fr-FR" sz="1400" i="1" dirty="0" smtClean="0"/>
              <a:t>chauffeurs </a:t>
            </a:r>
            <a:r>
              <a:rPr lang="fr-FR" sz="1400" i="1" dirty="0"/>
              <a:t>et voitures observée en </a:t>
            </a:r>
            <a:r>
              <a:rPr lang="fr-FR" sz="1400" b="1" i="1" dirty="0"/>
              <a:t>S</a:t>
            </a:r>
            <a:r>
              <a:rPr lang="fr-FR" sz="1400" b="1" i="1" dirty="0" smtClean="0"/>
              <a:t>eptembre</a:t>
            </a:r>
            <a:r>
              <a:rPr lang="fr-FR" sz="1400" i="1" dirty="0" smtClean="0"/>
              <a:t> </a:t>
            </a:r>
            <a:r>
              <a:rPr lang="fr-FR" sz="1400" i="1" dirty="0"/>
              <a:t>pourrait être liée à la mousson en Inde, qui s’étend généralement de fin </a:t>
            </a:r>
            <a:r>
              <a:rPr lang="fr-FR" sz="1400" b="1" i="1" dirty="0" smtClean="0"/>
              <a:t>Mai</a:t>
            </a:r>
            <a:r>
              <a:rPr lang="fr-FR" sz="1400" i="1" dirty="0" smtClean="0"/>
              <a:t> </a:t>
            </a:r>
            <a:r>
              <a:rPr lang="fr-FR" sz="1400" i="1" dirty="0"/>
              <a:t>à </a:t>
            </a:r>
            <a:r>
              <a:rPr lang="fr-FR" sz="1400" b="1" i="1" dirty="0"/>
              <a:t>S</a:t>
            </a:r>
            <a:r>
              <a:rPr lang="fr-FR" sz="1400" b="1" i="1" dirty="0" smtClean="0"/>
              <a:t>eptembre</a:t>
            </a:r>
            <a:r>
              <a:rPr lang="fr-FR" sz="1400" i="1" dirty="0" smtClean="0"/>
              <a:t> </a:t>
            </a:r>
            <a:r>
              <a:rPr lang="fr-FR" sz="1400" i="1" dirty="0"/>
              <a:t>et entraîne de fortes précipitations, pouvant perturber les déplacements et la disponibilité des véhicules et des chauffeurs.</a:t>
            </a:r>
            <a:endParaRPr lang="en-GB" sz="1400" i="1" dirty="0"/>
          </a:p>
        </p:txBody>
      </p:sp>
      <p:sp>
        <p:nvSpPr>
          <p:cNvPr id="5" name="Rectangle 4"/>
          <p:cNvSpPr/>
          <p:nvPr/>
        </p:nvSpPr>
        <p:spPr>
          <a:xfrm>
            <a:off x="583737" y="583076"/>
            <a:ext cx="10416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fr-FR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La mousson indienne 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et l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’absence </a:t>
            </a:r>
            <a:r>
              <a:rPr lang="fr-FR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chauffeurs </a:t>
            </a:r>
            <a:r>
              <a:rPr lang="fr-FR" sz="24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disponibles </a:t>
            </a:r>
            <a:endParaRPr lang="fr-FR" sz="2400" b="1" dirty="0">
              <a:solidFill>
                <a:srgbClr val="1B1F3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3196" y="1704219"/>
            <a:ext cx="10212245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VÉRIFICATION DES HYPOTHÈSES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8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</a:t>
            </a:r>
            <a:r>
              <a:rPr lang="fr-FR" sz="28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fr-FR" sz="28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r>
              <a:rPr lang="fr-FR" sz="2800" b="1" dirty="0" smtClean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de marché sous tension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2024, Rapido a bouleversé le marché indien du transport avec ses taxis-motos, portée par une levée de fonds de 200 millions de dollars.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68880" y="3108960"/>
            <a:ext cx="7315200" cy="365760"/>
          </a:xfrm>
          <a:prstGeom prst="roundRect">
            <a:avLst>
              <a:gd name="adj" fmla="val 50000"/>
            </a:avLst>
          </a:prstGeom>
          <a:solidFill>
            <a:srgbClr val="2A3160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3108960"/>
            <a:ext cx="6955436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8" name="Text 6"/>
          <p:cNvSpPr/>
          <p:nvPr/>
        </p:nvSpPr>
        <p:spPr>
          <a:xfrm>
            <a:off x="992124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4160520"/>
            <a:ext cx="7315200" cy="365760"/>
          </a:xfrm>
          <a:prstGeom prst="roundRect">
            <a:avLst>
              <a:gd name="adj" fmla="val 50000"/>
            </a:avLst>
          </a:prstGeom>
          <a:solidFill>
            <a:srgbClr val="2A3160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4160520"/>
            <a:ext cx="2398426" cy="36576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9921240" y="4069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de marché estimées des utilisateurs actifs mensuels, 2024 (Rapido : 56–61 %, Uber : &lt; 20 %)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RECOMMANDATIONS</a:t>
            </a:r>
            <a:endParaRPr lang="en-US" sz="125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et limites de l'étude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5187461"/>
          </a:xfrm>
          <a:prstGeom prst="roundRect">
            <a:avLst>
              <a:gd name="adj" fmla="val 1364"/>
            </a:avLst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924368" y="163009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932549"/>
            <a:ext cx="4754880" cy="418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Réduire les annulations chauffeur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472" y="2254352"/>
            <a:ext cx="4754880" cy="1033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chauffeurs à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place un dashboard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l’évolution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d’annulation</a:t>
            </a:r>
            <a:r>
              <a:rPr lang="en-US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</a:t>
            </a:r>
            <a:r>
              <a:rPr lang="en-US" altLang="en-US" sz="16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2286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L'ÉTUDE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834640"/>
            <a:ext cx="320040" cy="320040"/>
          </a:xfrm>
          <a:prstGeom prst="ellipse">
            <a:avLst/>
          </a:prstGeom>
          <a:solidFill>
            <a:srgbClr val="C14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2697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réel du chauffeur par trajet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611880"/>
            <a:ext cx="320040" cy="320040"/>
          </a:xfrm>
          <a:prstGeom prst="ellipse">
            <a:avLst/>
          </a:prstGeom>
          <a:solidFill>
            <a:srgbClr val="C1445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34747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prélevée par la plateforme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251960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389120"/>
            <a:ext cx="320040" cy="320040"/>
          </a:xfrm>
          <a:prstGeom prst="ellipse">
            <a:avLst/>
          </a:prstGeom>
          <a:solidFill>
            <a:srgbClr val="C1445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du carburant supporté par le chauffeur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50749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ne contient aucune de ces informations — un frein pour expliquer pleinement les comportements d'annulation côté chauffeur.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Text 4"/>
          <p:cNvSpPr/>
          <p:nvPr/>
        </p:nvSpPr>
        <p:spPr>
          <a:xfrm>
            <a:off x="889200" y="3366830"/>
            <a:ext cx="4754880" cy="418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Renforcer </a:t>
            </a:r>
            <a:r>
              <a:rPr lang="en-US" sz="17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l’offre</a:t>
            </a:r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17h–19h</a:t>
            </a:r>
            <a:endParaRPr lang="en-US" sz="1700" dirty="0"/>
          </a:p>
        </p:txBody>
      </p:sp>
      <p:sp>
        <p:nvSpPr>
          <p:cNvPr id="26" name="Text 5"/>
          <p:cNvSpPr/>
          <p:nvPr/>
        </p:nvSpPr>
        <p:spPr>
          <a:xfrm>
            <a:off x="889200" y="3732592"/>
            <a:ext cx="4754880" cy="59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chauffeurs et proposer des bonus aux heures de pointe.</a:t>
            </a:r>
            <a:endParaRPr lang="en-US" sz="1400" dirty="0"/>
          </a:p>
        </p:txBody>
      </p:sp>
      <p:sp>
        <p:nvSpPr>
          <p:cNvPr id="29" name="Text 4"/>
          <p:cNvSpPr/>
          <p:nvPr/>
        </p:nvSpPr>
        <p:spPr>
          <a:xfrm>
            <a:off x="868680" y="4433611"/>
            <a:ext cx="4754880" cy="825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7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le type de service aux conditions géographiques et météorologiques</a:t>
            </a:r>
            <a:r>
              <a:rPr lang="fr-FR" sz="17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r>
              <a:rPr lang="fr-FR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sur les perturbations locales</a:t>
            </a:r>
            <a:endParaRPr lang="en-US" altLang="en-US" sz="16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8680" y="5411429"/>
            <a:ext cx="4754880" cy="825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7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Améliorer l’</a:t>
            </a:r>
            <a:r>
              <a:rPr lang="fr-FR" sz="1700" b="1" dirty="0" err="1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r>
              <a:rPr lang="fr-FR" sz="17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paiement</a:t>
            </a:r>
            <a:r>
              <a:rPr lang="fr-FR" sz="17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r>
              <a:rPr lang="fr-FR" alt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sur les frais supplémentaires et les dérives lies aux espèces</a:t>
            </a:r>
            <a:endParaRPr lang="en-US" altLang="en-US" sz="16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3474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Text 16"/>
          <p:cNvSpPr/>
          <p:nvPr/>
        </p:nvSpPr>
        <p:spPr>
          <a:xfrm>
            <a:off x="73609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1" name="Shape 19"/>
          <p:cNvSpPr/>
          <p:nvPr/>
        </p:nvSpPr>
        <p:spPr>
          <a:xfrm>
            <a:off x="788894" y="1550894"/>
            <a:ext cx="10549666" cy="3263153"/>
          </a:xfrm>
          <a:prstGeom prst="roundRect">
            <a:avLst>
              <a:gd name="adj" fmla="val 5128"/>
            </a:avLst>
          </a:prstGeom>
          <a:solidFill>
            <a:schemeClr val="accent5">
              <a:lumMod val="50000"/>
            </a:schemeClr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5" name="ZoneTexte 54"/>
          <p:cNvSpPr txBox="1"/>
          <p:nvPr/>
        </p:nvSpPr>
        <p:spPr>
          <a:xfrm>
            <a:off x="1344705" y="3429000"/>
            <a:ext cx="9054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Optimiser </a:t>
            </a:r>
            <a:r>
              <a:rPr lang="fr-FR" b="1" dirty="0" smtClean="0">
                <a:solidFill>
                  <a:schemeClr val="bg1"/>
                </a:solidFill>
              </a:rPr>
              <a:t>la disponibilité et réduire les annulations</a:t>
            </a:r>
            <a:r>
              <a:rPr lang="fr-FR" dirty="0" smtClean="0">
                <a:solidFill>
                  <a:schemeClr val="bg1"/>
                </a:solidFill>
              </a:rPr>
              <a:t>, tout en suivant les </a:t>
            </a:r>
            <a:r>
              <a:rPr lang="fr-FR" dirty="0" smtClean="0">
                <a:solidFill>
                  <a:schemeClr val="bg1"/>
                </a:solidFill>
              </a:rPr>
              <a:t>KPI, permettra d’améliorer </a:t>
            </a:r>
            <a:r>
              <a:rPr lang="fr-FR" dirty="0" smtClean="0">
                <a:solidFill>
                  <a:schemeClr val="bg1"/>
                </a:solidFill>
              </a:rPr>
              <a:t>durablement la complétion et l’expérience client.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1344706" y="2139910"/>
            <a:ext cx="9054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C000"/>
                </a:solidFill>
              </a:rPr>
              <a:t>38 % </a:t>
            </a:r>
            <a:r>
              <a:rPr lang="fr-FR" b="1" dirty="0" smtClean="0">
                <a:solidFill>
                  <a:schemeClr val="bg1"/>
                </a:solidFill>
              </a:rPr>
              <a:t>des réservations n’aboutissent </a:t>
            </a:r>
            <a:r>
              <a:rPr lang="fr-FR" dirty="0" smtClean="0">
                <a:solidFill>
                  <a:schemeClr val="bg1"/>
                </a:solidFill>
              </a:rPr>
              <a:t>pas à une course, principalement à cause </a:t>
            </a:r>
            <a:r>
              <a:rPr lang="fr-FR" dirty="0" smtClean="0">
                <a:solidFill>
                  <a:schemeClr val="bg1"/>
                </a:solidFill>
              </a:rPr>
              <a:t>des </a:t>
            </a:r>
            <a:r>
              <a:rPr lang="fr-FR" dirty="0" smtClean="0">
                <a:solidFill>
                  <a:schemeClr val="bg1"/>
                </a:solidFill>
              </a:rPr>
              <a:t>annulations chauffeurs et du manque de disponibilité aux heures de pointe. </a:t>
            </a:r>
          </a:p>
          <a:p>
            <a:endParaRPr lang="fr-FR" dirty="0"/>
          </a:p>
        </p:txBody>
      </p:sp>
      <p:sp>
        <p:nvSpPr>
          <p:cNvPr id="57" name="Text 21"/>
          <p:cNvSpPr/>
          <p:nvPr/>
        </p:nvSpPr>
        <p:spPr>
          <a:xfrm>
            <a:off x="325315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Booking · Analyse 2024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645920"/>
            <a:ext cx="3200400" cy="32004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545976"/>
            <a:ext cx="38942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</a:t>
            </a:r>
            <a:endParaRPr lang="en-US" sz="4000" b="1" dirty="0" smtClean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4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 · Rita · Sebastien · Wissam · Adam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7" name="Image 6" descr="INCOMPLETED8LOCATION.png"/>
          <p:cNvPicPr>
            <a:picLocks noChangeAspect="1"/>
          </p:cNvPicPr>
          <p:nvPr/>
        </p:nvPicPr>
        <p:blipFill>
          <a:blip r:embed="rId3"/>
          <a:srcRect l="18582" t="2490" r="2984" b="14252"/>
          <a:stretch>
            <a:fillRect/>
          </a:stretch>
        </p:blipFill>
        <p:spPr>
          <a:xfrm>
            <a:off x="5420061" y="1299882"/>
            <a:ext cx="5827059" cy="4043083"/>
          </a:xfrm>
          <a:prstGeom prst="rect">
            <a:avLst/>
          </a:prstGeom>
        </p:spPr>
      </p:pic>
      <p:pic>
        <p:nvPicPr>
          <p:cNvPr id="8" name="Image 7" descr="INCOMPLETED8LOCATION.png"/>
          <p:cNvPicPr>
            <a:picLocks noChangeAspect="1"/>
          </p:cNvPicPr>
          <p:nvPr/>
        </p:nvPicPr>
        <p:blipFill>
          <a:blip r:embed="rId3"/>
          <a:srcRect t="88733"/>
          <a:stretch>
            <a:fillRect/>
          </a:stretch>
        </p:blipFill>
        <p:spPr>
          <a:xfrm>
            <a:off x="4787206" y="5541980"/>
            <a:ext cx="7056907" cy="493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12387</TotalTime>
  <Words>1490</Words>
  <Application>Microsoft Office PowerPoint</Application>
  <PresentationFormat>Personnalisé</PresentationFormat>
  <Paragraphs>247</Paragraphs>
  <Slides>19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Utilisateur</cp:lastModifiedBy>
  <cp:revision>66</cp:revision>
  <dcterms:created xsi:type="dcterms:W3CDTF">2026-07-30T12:52:50Z</dcterms:created>
  <dcterms:modified xsi:type="dcterms:W3CDTF">2026-08-08T13:54:41Z</dcterms:modified>
</cp:coreProperties>
</file>